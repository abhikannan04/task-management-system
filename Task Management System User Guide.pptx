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66" r:id="rId3"/>
    <p:sldId id="267" r:id="rId4"/>
    <p:sldId id="256" r:id="rId5"/>
    <p:sldId id="257" r:id="rId6"/>
    <p:sldId id="258" r:id="rId7"/>
    <p:sldId id="264" r:id="rId8"/>
    <p:sldId id="259" r:id="rId9"/>
    <p:sldId id="260" r:id="rId10"/>
    <p:sldId id="261" r:id="rId11"/>
    <p:sldId id="26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A5CF0-5675-4512-890C-318F2CC11A3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A7B77-BBF1-4EE4-A159-98BCD80FCB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51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6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93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5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97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9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4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059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0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59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EA5C7-8C76-49C5-9A6A-B013295D0C6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23AA7-1664-460B-BE11-B98097841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76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730" y="6699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u="sng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Task Management System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17" y="1995487"/>
            <a:ext cx="11940209" cy="1595851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The Task Management System (TMS) is a sophisticated, centralized platform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to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optimize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task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management processes, enhance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streamline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approval workflows. By addressing challenges such as limited visibility and inefficient communication, TMS ensures timely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task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delivery and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helps in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effective collaboration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among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teams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.</a:t>
            </a:r>
            <a:endParaRPr lang="en-US" sz="24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350" y="109991"/>
            <a:ext cx="1075199" cy="7128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6835" y="3687901"/>
            <a:ext cx="42870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Key Objectives</a:t>
            </a:r>
            <a:endParaRPr lang="en-US" sz="20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Real-time task and team performance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Efficient task and approval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Enhanced communication via notifications.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Secure role-based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Actionable insights via reports/dashboards.</a:t>
            </a:r>
          </a:p>
          <a:p>
            <a:endParaRPr lang="en-IN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00770" y="3715341"/>
            <a:ext cx="362187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Purpose</a:t>
            </a:r>
            <a:endParaRPr lang="en-US" sz="20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Enable task plan submission and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Streamline manager review and approvals.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Provide real-time task visibility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Support data-driven </a:t>
            </a:r>
            <a:r>
              <a:rPr lang="en-US" sz="20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incisive decisions</a:t>
            </a: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.</a:t>
            </a:r>
          </a:p>
          <a:p>
            <a:endParaRPr lang="en-IN" sz="20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05460" y="3719138"/>
            <a:ext cx="3286540" cy="2844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System Capabilities</a:t>
            </a:r>
            <a:endParaRPr lang="en-US" sz="20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Real-time task tracking with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Structured approval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Automated alerts for actions/deadlines.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Secure, scalable system with role-based access.</a:t>
            </a:r>
          </a:p>
        </p:txBody>
      </p:sp>
    </p:spTree>
    <p:extLst>
      <p:ext uri="{BB962C8B-B14F-4D97-AF65-F5344CB8AC3E}">
        <p14:creationId xmlns:p14="http://schemas.microsoft.com/office/powerpoint/2010/main" val="174757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32833" y="1317204"/>
            <a:ext cx="43263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2. Action </a:t>
            </a:r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Plan </a:t>
            </a:r>
            <a:r>
              <a:rPr lang="en-US" b="1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Employees submit daily task plans with timelines.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Track plan statuses (e.g., Started, In Progress, Completed, Under Approval).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Managers review, approve, or reject plans with feedback.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-374761" y="1317203"/>
            <a:ext cx="4562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       1. Task </a:t>
            </a:r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Management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Create and assign tasks with specific parameters.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Monitor task progress with status indicators and milestones.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 task lifecycle from creation to completion, with archiving.</a:t>
            </a:r>
          </a:p>
          <a:p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98079" y="670667"/>
            <a:ext cx="35958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Core Functionalities</a:t>
            </a:r>
            <a:endParaRPr lang="en-IN" sz="3200" u="sng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8463" y="1317204"/>
            <a:ext cx="35855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3</a:t>
            </a:r>
            <a:r>
              <a:rPr lang="en-US" b="1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. Approval </a:t>
            </a:r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Workflows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</a:t>
            </a:r>
            <a:endParaRPr lang="en-US" dirty="0" smtClean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Employees 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submit task completion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Managers review requests, approving or rejecting with comments.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Automated notifications for pending actions and updates.</a:t>
            </a:r>
          </a:p>
          <a:p>
            <a:endParaRPr lang="en-IN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255" y="3644213"/>
            <a:ext cx="44964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4. Reporting </a:t>
            </a:r>
            <a:r>
              <a:rPr lang="en-US" b="1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and Analytics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</a:t>
            </a:r>
            <a:endParaRPr lang="en-US" dirty="0" smtClean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Generate 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reports on task progress, team, and individual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Export data in PDF, CSV, or Excel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Role-specific dashboards with key metrics.</a:t>
            </a:r>
          </a:p>
          <a:p>
            <a:endParaRPr lang="en-IN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71" y="100062"/>
            <a:ext cx="969181" cy="642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2307" y="5140224"/>
            <a:ext cx="1487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Benefits</a:t>
            </a:r>
            <a:endParaRPr lang="en-IN" sz="3200" b="1" u="sng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548" y="5819263"/>
            <a:ext cx="117149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Managers </a:t>
            </a:r>
            <a:r>
              <a:rPr lang="en-US" sz="20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can easily review </a:t>
            </a:r>
            <a:r>
              <a:rPr lang="en-US" sz="20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with less paperwork, clear team reports, and quick fixes for delays. Employees get clear tasks for better focus, visible recognition of their work, and fast, helpful feedback.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31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71" y="100062"/>
            <a:ext cx="969181" cy="6425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31" y="941394"/>
            <a:ext cx="10734260" cy="457988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Rounded Rectangle 2"/>
          <p:cNvSpPr/>
          <p:nvPr/>
        </p:nvSpPr>
        <p:spPr>
          <a:xfrm>
            <a:off x="2902226" y="1457739"/>
            <a:ext cx="8216348" cy="76862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7513981" y="73558"/>
            <a:ext cx="4333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Bahnschrift SemiBold Condensed" panose="020B0502040204020203" pitchFamily="34" charset="0"/>
              </a:rPr>
              <a:t>1.Open Banas Setu and in Service Projects click on this to open the Login Portal of Task management System.</a:t>
            </a:r>
            <a:endParaRPr lang="en-IN" dirty="0">
              <a:solidFill>
                <a:srgbClr val="0070C0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268279" y="371061"/>
            <a:ext cx="1391478" cy="987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9131" y="5720060"/>
            <a:ext cx="10734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2.Open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web browser and type the following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IP- </a:t>
            </a:r>
            <a:r>
              <a:rPr lang="en-US" sz="2400" u="sng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10.40.0.33:3002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 in </a:t>
            </a:r>
            <a:r>
              <a:rPr lang="en-US" sz="24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the address bar and press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enter </a:t>
            </a:r>
            <a:r>
              <a:rPr lang="en-US" sz="24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key to redirect to the login portal  of Task Management System.</a:t>
            </a:r>
            <a:endParaRPr lang="en-IN" sz="24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19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365" y="5321551"/>
            <a:ext cx="10893287" cy="1264778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  <a:t>This is the Login/Register page where employees can securely sign in or create an account (if they are new users) to access the main platform.</a:t>
            </a:r>
            <a:endParaRPr lang="en-US" sz="3200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385" y="107378"/>
            <a:ext cx="1054950" cy="70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65" y="1035965"/>
            <a:ext cx="5128592" cy="4060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6" y="1035965"/>
            <a:ext cx="5287616" cy="40757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cxnSp>
        <p:nvCxnSpPr>
          <p:cNvPr id="10" name="Straight Arrow Connector 9"/>
          <p:cNvCxnSpPr/>
          <p:nvPr/>
        </p:nvCxnSpPr>
        <p:spPr>
          <a:xfrm flipV="1">
            <a:off x="3154017" y="3816626"/>
            <a:ext cx="1378226" cy="15049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154017" y="4386471"/>
            <a:ext cx="4691270" cy="935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25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949" y="5367803"/>
            <a:ext cx="11423373" cy="1285424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  <a:t>In this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Dashboard s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  <a:t>ection, Managers can view the status of all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Projects</a:t>
            </a:r>
            <a:r>
              <a:rPr lang="en-US" sz="32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  <a:t> and access detailed action plans.</a:t>
            </a:r>
            <a:endParaRPr lang="en-US" sz="3200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965" y="70630"/>
            <a:ext cx="1075339" cy="7168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74" y="958462"/>
            <a:ext cx="11317748" cy="4503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2099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4602966"/>
            <a:ext cx="5155096" cy="1616938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Managers can assign employees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to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 particular project from the dropdown.</a:t>
            </a:r>
            <a:endParaRPr lang="en-US" sz="3200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273" y="92655"/>
            <a:ext cx="1072183" cy="7147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93496" y="1711169"/>
            <a:ext cx="48105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section, Managers can view and manage all projects they have created.</a:t>
            </a:r>
            <a:endParaRPr lang="en-US" sz="2800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9" y="919293"/>
            <a:ext cx="7169426" cy="3100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3" name="Straight Arrow Connector 12"/>
          <p:cNvCxnSpPr/>
          <p:nvPr/>
        </p:nvCxnSpPr>
        <p:spPr>
          <a:xfrm flipH="1">
            <a:off x="6109252" y="1906828"/>
            <a:ext cx="1855306" cy="226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678" y="4195548"/>
            <a:ext cx="6234526" cy="24317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7" name="Straight Arrow Connector 16"/>
          <p:cNvCxnSpPr/>
          <p:nvPr/>
        </p:nvCxnSpPr>
        <p:spPr>
          <a:xfrm>
            <a:off x="4558748" y="5006841"/>
            <a:ext cx="2385391" cy="7180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348" y="5347943"/>
            <a:ext cx="10999304" cy="1225136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section, managers can initiate new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aligned with OSTA and FSTA frameworks, including detailed descriptions and set deadlines for each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project.</a:t>
            </a:r>
            <a:endParaRPr lang="en-US" sz="3200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534" y="69981"/>
            <a:ext cx="1058931" cy="7059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22" y="861390"/>
            <a:ext cx="10855629" cy="4315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2" name="Straight Arrow Connector 11"/>
          <p:cNvCxnSpPr/>
          <p:nvPr/>
        </p:nvCxnSpPr>
        <p:spPr>
          <a:xfrm flipV="1">
            <a:off x="5724939" y="5006125"/>
            <a:ext cx="5009322" cy="341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7407965" y="397541"/>
            <a:ext cx="821635" cy="874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91061" y="47894"/>
            <a:ext cx="3697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These </a:t>
            </a:r>
            <a:r>
              <a:rPr lang="en-US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fields will fill 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automatically based on the </a:t>
            </a:r>
            <a:r>
              <a:rPr lang="en-US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user’s department</a:t>
            </a:r>
            <a:r>
              <a:rPr lang="en-US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.</a:t>
            </a:r>
            <a:endParaRPr lang="en-US" dirty="0">
              <a:solidFill>
                <a:srgbClr val="0070C0"/>
              </a:solidFill>
              <a:effectLst/>
              <a:latin typeface="Bahnschrift SemiBold SemiConden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974574" y="1272209"/>
            <a:ext cx="9515061" cy="4903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5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1328" y="1301029"/>
            <a:ext cx="4634898" cy="15595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Section, Managers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can review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 approvals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submitted by employees.</a:t>
            </a:r>
            <a:endParaRPr lang="en-IN" sz="3200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14" y="92288"/>
            <a:ext cx="1062853" cy="7085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3588" y="4449610"/>
            <a:ext cx="4320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Section, Managers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can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review Action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plans submitted by employees.</a:t>
            </a:r>
            <a:endParaRPr lang="en-IN" sz="3200" dirty="0">
              <a:solidFill>
                <a:srgbClr val="0070C0"/>
              </a:solidFill>
            </a:endParaRPr>
          </a:p>
        </p:txBody>
      </p:sp>
      <p:cxnSp>
        <p:nvCxnSpPr>
          <p:cNvPr id="15" name="Straight Arrow Connector 14"/>
          <p:cNvCxnSpPr>
            <a:endCxn id="17" idx="1"/>
          </p:cNvCxnSpPr>
          <p:nvPr/>
        </p:nvCxnSpPr>
        <p:spPr>
          <a:xfrm>
            <a:off x="4258220" y="4916557"/>
            <a:ext cx="525815" cy="2800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35" y="3780468"/>
            <a:ext cx="7262191" cy="28323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78" y="940904"/>
            <a:ext cx="6850029" cy="2559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3" name="Straight Arrow Connector 12"/>
          <p:cNvCxnSpPr/>
          <p:nvPr/>
        </p:nvCxnSpPr>
        <p:spPr>
          <a:xfrm flipH="1">
            <a:off x="980662" y="1762539"/>
            <a:ext cx="6546573" cy="3445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63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442" y="5529293"/>
            <a:ext cx="11963558" cy="1505311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  <a:t>In this Section, Managers can view project reports, analyze bar charts, and download summaries for all projects or individual projects in PDF and Excel format.</a:t>
            </a:r>
            <a:br>
              <a:rPr lang="en-US" sz="2800" dirty="0" smtClean="0">
                <a:solidFill>
                  <a:srgbClr val="0070C0"/>
                </a:solidFill>
                <a:effectLst/>
                <a:latin typeface="Bahnschrift SemiBold SemiConden" panose="020B0502040204020203" pitchFamily="34" charset="0"/>
              </a:rPr>
            </a:br>
            <a:endParaRPr lang="en-IN" sz="28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790" y="108767"/>
            <a:ext cx="1090062" cy="7267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26" y="905501"/>
            <a:ext cx="7076659" cy="22086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138" y="3276495"/>
            <a:ext cx="7991062" cy="2208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cxnSp>
        <p:nvCxnSpPr>
          <p:cNvPr id="7" name="Straight Arrow Connector 6"/>
          <p:cNvCxnSpPr/>
          <p:nvPr/>
        </p:nvCxnSpPr>
        <p:spPr>
          <a:xfrm flipH="1" flipV="1">
            <a:off x="4373217" y="4619511"/>
            <a:ext cx="278296" cy="10279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911549" y="1094765"/>
            <a:ext cx="412142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By Clicking in the Generate report the Reports Summary will be Generated</a:t>
            </a:r>
            <a:endParaRPr lang="en-IN" sz="2800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6268279" y="1517363"/>
            <a:ext cx="1643269" cy="165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28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544" y="108898"/>
            <a:ext cx="993282" cy="66218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06557" y="5162196"/>
            <a:ext cx="11599913" cy="16958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This is the Employee Dashboard, where employees can view all projects assigned to them, access detailed project information, and review the action plans they have submitted for each specific project.</a:t>
            </a:r>
            <a:b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</a:br>
            <a:endParaRPr lang="en-IN" sz="32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7" y="887896"/>
            <a:ext cx="11412251" cy="4015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1733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3" y="5177816"/>
            <a:ext cx="11343859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section, team members can submit action plans for their assigned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projects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and request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project </a:t>
            </a:r>
            <a:r>
              <a:rPr lang="en-US" sz="3200" dirty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completion approval, which will be reviewed and authorized by the </a:t>
            </a:r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manager.</a:t>
            </a:r>
            <a:endParaRPr lang="en-IN" sz="32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662" y="109563"/>
            <a:ext cx="1117925" cy="6754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7" y="883125"/>
            <a:ext cx="11158330" cy="39198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5" name="Straight Arrow Connector 4"/>
          <p:cNvCxnSpPr/>
          <p:nvPr/>
        </p:nvCxnSpPr>
        <p:spPr>
          <a:xfrm flipV="1">
            <a:off x="7010400" y="4611757"/>
            <a:ext cx="1179443" cy="5660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010400" y="4704522"/>
            <a:ext cx="2902226" cy="4732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33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386" y="92731"/>
            <a:ext cx="1117925" cy="74528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06433" y="5309227"/>
            <a:ext cx="11509829" cy="16415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  <a:t>In this Section, employees can view all project details assigned to them, as well as the action plans they have submitted and their approval or rejection status.</a:t>
            </a:r>
            <a:br>
              <a:rPr lang="en-US" sz="3200" dirty="0" smtClean="0">
                <a:solidFill>
                  <a:srgbClr val="0070C0"/>
                </a:solidFill>
                <a:latin typeface="Bahnschrift SemiBold SemiConden" panose="020B0502040204020203" pitchFamily="34" charset="0"/>
              </a:rPr>
            </a:br>
            <a:endParaRPr lang="en-IN" sz="3200" dirty="0">
              <a:solidFill>
                <a:srgbClr val="0070C0"/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72" y="962495"/>
            <a:ext cx="11256697" cy="4113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1349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632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Bahnschrift SemiBold Condensed</vt:lpstr>
      <vt:lpstr>Bahnschrift SemiBold SemiConden</vt:lpstr>
      <vt:lpstr>Calibri</vt:lpstr>
      <vt:lpstr>Calibri Light</vt:lpstr>
      <vt:lpstr>Office Theme</vt:lpstr>
      <vt:lpstr>Task Management System</vt:lpstr>
      <vt:lpstr>PowerPoint Presentation</vt:lpstr>
      <vt:lpstr>PowerPoint Presentation</vt:lpstr>
      <vt:lpstr>PowerPoint Presentation</vt:lpstr>
      <vt:lpstr>In this Dashboard section, Managers can view the status of all Projects and access detailed action plans.</vt:lpstr>
      <vt:lpstr>Managers can assign employees to a particular project from the dropdown.</vt:lpstr>
      <vt:lpstr>In this section, managers can initiate new projects aligned with OSTA and FSTA frameworks, including detailed descriptions and set deadlines for each project.</vt:lpstr>
      <vt:lpstr>In this Section, Managers can review Project approvals submitted by employees.</vt:lpstr>
      <vt:lpstr>In this Section, Managers can view project reports, analyze bar charts, and download summaries for all projects or individual projects in PDF and Excel format. </vt:lpstr>
      <vt:lpstr>PowerPoint Presentation</vt:lpstr>
      <vt:lpstr>In this section, team members can submit action plans for their assigned projects and request project completion approval, which will be reviewed and authorized by the manager.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Status</dc:title>
  <dc:creator>Nikita A. Chaudhary/MPSS/HO</dc:creator>
  <cp:lastModifiedBy>Nikita A. Chaudhary/MPSS/HO</cp:lastModifiedBy>
  <cp:revision>76</cp:revision>
  <dcterms:created xsi:type="dcterms:W3CDTF">2025-10-28T05:43:49Z</dcterms:created>
  <dcterms:modified xsi:type="dcterms:W3CDTF">2025-11-04T06:05:32Z</dcterms:modified>
</cp:coreProperties>
</file>